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AQI India: Station-Level Pollution Intelligence</a:t>
            </a:r>
          </a:p>
          <a:p>
            <a:pPr>
              <a:spcBef>
                <a:spcPts val="800"/>
              </a:spcBef>
              <a:defRPr sz="2000">
                <a:solidFill>
                  <a:srgbClr val="3B82F6"/>
                </a:solidFill>
                <a:latin typeface="Segoe UI"/>
              </a:defRPr>
            </a:pPr>
            <a:r>
              <a:t>Multi-Factor Outlier Filtering, Risk Scoring Index &amp; Machine Learning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Team: Solaris Lunaris</a:t>
            </a:r>
          </a:p>
          <a:p>
            <a:pPr>
              <a:spcBef>
                <a:spcPts val="400"/>
              </a:spcBef>
              <a:defRPr sz="1800">
                <a:solidFill>
                  <a:srgbClr val="E2E8F0"/>
                </a:solidFill>
                <a:latin typeface="Segoe UI"/>
              </a:defRPr>
            </a:pPr>
            <a:r>
              <a:t>Members: Krishna Agarwal &amp; Jyotirmay Singh</a:t>
            </a:r>
          </a:p>
          <a:p>
            <a:pPr>
              <a:spcBef>
                <a:spcPts val="800"/>
              </a:spcBef>
              <a:defRPr sz="1400">
                <a:solidFill>
                  <a:srgbClr val="3B82F6"/>
                </a:solidFill>
                <a:latin typeface="Segoe UI"/>
              </a:defRPr>
            </a:pPr>
            <a:r>
              <a:t>GitHub: github.com/Krishna-Agarwal04/aqi-india-dashboard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City-Level Aggregation Bias:</a:t>
            </a:r>
            <a:r>
              <a:rPr b="0" sz="1600">
                <a:solidFill>
                  <a:srgbClr val="E2E8F0"/>
                </a:solidFill>
                <a:latin typeface="Segoe UI"/>
              </a:rPr>
              <a:t> Standard AQI reports average pollution levels across large municipal zones, which masks local station-level pollution hotspots.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Worst-Pollutant Bias:</a:t>
            </a:r>
            <a:r>
              <a:rPr b="0" sz="1600">
                <a:solidFill>
                  <a:srgbClr val="E2E8F0"/>
                </a:solidFill>
                <a:latin typeface="Segoe UI"/>
              </a:rPr>
              <a:t> Standard metrics calculate values on the single worst-performing pollutant, neglecting exceedance range volatility or multi-pollutant spreads.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Calibration Outliers:</a:t>
            </a:r>
            <a:r>
              <a:rPr b="0" sz="1600">
                <a:solidFill>
                  <a:srgbClr val="E2E8F0"/>
                </a:solidFill>
                <a:latin typeface="Segoe UI"/>
              </a:rPr>
              <a:t> Sensor malfunctions and calibration spikes frequently bias telemetry data without automated filtering.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Exposure Persistence:</a:t>
            </a:r>
            <a:r>
              <a:rPr b="0" sz="1600">
                <a:solidFill>
                  <a:srgbClr val="E2E8F0"/>
                </a:solidFill>
                <a:latin typeface="Segoe UI"/>
              </a:rPr>
              <a:t> Traditional indices fail to incorporate logging duration and persistent exposure factors into station severity ratings.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Granular Station Analytics:</a:t>
            </a:r>
            <a:r>
              <a:rPr b="0" sz="1600">
                <a:solidFill>
                  <a:srgbClr val="E2E8F0"/>
                </a:solidFill>
                <a:latin typeface="Segoe UI"/>
              </a:rPr>
              <a:t> Develop a robust preprocessing pipeline to ingest, clean, and validate CPCB sensor data at the monitoring station level.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Automated Outlier Flagging:</a:t>
            </a:r>
            <a:r>
              <a:rPr b="0" sz="1600">
                <a:solidFill>
                  <a:srgbClr val="E2E8F0"/>
                </a:solidFill>
                <a:latin typeface="Segoe UI"/>
              </a:rPr>
              <a:t> Use rolling Interquartile Range (IQR) checks to isolate sensor spikes and calibration malfunctions.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Station Pollution Intelligence Score (SPIS):</a:t>
            </a:r>
            <a:r>
              <a:rPr b="0" sz="1600">
                <a:solidFill>
                  <a:srgbClr val="E2E8F0"/>
                </a:solidFill>
                <a:latin typeface="Segoe UI"/>
              </a:rPr>
              <a:t> Build an explainable, multi-factor rating index (0-100) combining averages, volatility, anomalies, and persistence.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Dynamic Sandbox Simulation:</a:t>
            </a:r>
            <a:r>
              <a:rPr b="0" sz="1600">
                <a:solidFill>
                  <a:srgbClr val="E2E8F0"/>
                </a:solidFill>
                <a:latin typeface="Segoe UI"/>
              </a:rPr>
              <a:t> Build an interactive Streamlit UI for dynamic data edits, synthetic data injection, and instant ML model retraining.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Pipeline Architecture &amp; Engineering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Schema Validation:</a:t>
            </a:r>
            <a:r>
              <a:rPr b="0" sz="1600">
                <a:solidFill>
                  <a:srgbClr val="E2E8F0"/>
                </a:solidFill>
                <a:latin typeface="Segoe UI"/>
              </a:rPr>
              <a:t> Enforces type casting and constraints. Filters out coordinate errors outside India bounding-box.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Robust IQR Outlier Filter:</a:t>
            </a:r>
            <a:r>
              <a:rPr b="0" sz="1600">
                <a:solidFill>
                  <a:srgbClr val="E2E8F0"/>
                </a:solidFill>
                <a:latin typeface="Segoe UI"/>
              </a:rPr>
              <a:t> Flags anomalies per pollutant type; isolated 95 logs (3.0%) representing sensor spikes.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K-Means Signature Clustering:</a:t>
            </a:r>
            <a:r>
              <a:rPr b="0" sz="1600">
                <a:solidFill>
                  <a:srgbClr val="E2E8F0"/>
                </a:solidFill>
                <a:latin typeface="Segoe UI"/>
              </a:rPr>
              <a:t> Groups cities into 4 distinct pollutant profiles based on multi-criteria footprints.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Random Forest Classifier:</a:t>
            </a:r>
            <a:r>
              <a:rPr b="0" sz="1600">
                <a:solidFill>
                  <a:srgbClr val="E2E8F0"/>
                </a:solidFill>
                <a:latin typeface="Segoe UI"/>
              </a:rPr>
              <a:t> Learns risk band patterns from SPIS components to explain pollution drivers.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1E293B"/>
          </a:solidFill>
        </p:spPr>
        <p:txBody>
          <a:bodyPr wrap="square" lIns="182880" tIns="182880" rIns="182880" bIns="18288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Consolas"/>
              </a:defRPr>
            </a:pPr>
            <a:r>
              <a:t>Data Pipeline Ingestion Flow: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E2E8F0"/>
                </a:solidFill>
                <a:latin typeface="Consolas"/>
              </a:defRPr>
            </a:pPr>
            <a:r>
              <a:t>[Raw CPCB Ingestion]</a:t>
            </a:r>
            <a:br/>
            <a:r>
              <a:t>         │</a:t>
            </a:r>
            <a:br/>
            <a:r>
              <a:t>         ▼</a:t>
            </a:r>
            <a:br/>
            <a:r>
              <a:t>[Schema Validation]</a:t>
            </a:r>
            <a:br/>
            <a:r>
              <a:t>         │</a:t>
            </a:r>
            <a:br/>
            <a:r>
              <a:t>         ▼</a:t>
            </a:r>
            <a:br/>
            <a:r>
              <a:t>[IQR Outlier Filter] ──► (Removes sensor spikes)</a:t>
            </a:r>
            <a:br/>
            <a:r>
              <a:t>         │</a:t>
            </a:r>
            <a:br/>
            <a:r>
              <a:t>         ▼</a:t>
            </a:r>
            <a:br/>
            <a:r>
              <a:t>[SPIS Score &amp; Bands] ──► (Calculates 0-100 ratings)</a:t>
            </a:r>
            <a:br/>
            <a:r>
              <a:t>         │</a:t>
            </a:r>
            <a:br/>
            <a:r>
              <a:t>         ▼</a:t>
            </a:r>
            <a:br/>
            <a:r>
              <a:t>[K-Means Clustering] ──► (Profiles city signatures)</a:t>
            </a:r>
            <a:br/>
            <a:r>
              <a:t>         │</a:t>
            </a:r>
            <a:br/>
            <a:r>
              <a:t>         ▼</a:t>
            </a:r>
            <a:br/>
            <a:r>
              <a:t>[Random Forest Model] ──► [Interactive Sandbox UI]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Station Pollution Intelligence Score (SPIS)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  <a:latin typeface="Segoe UI"/>
              </a:rPr>
              <a:t>Multi-Factor Rating:</a:t>
            </a:r>
            <a:r>
              <a:rPr b="0" sz="1500">
                <a:solidFill>
                  <a:srgbClr val="E2E8F0"/>
                </a:solidFill>
                <a:latin typeface="Segoe UI"/>
              </a:rPr>
              <a:t> Scales dynamic pollutant properties into an auditable score from 0 to 100: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  <a:latin typeface="Segoe UI"/>
              </a:rPr>
              <a:t>40% average load level</a:t>
            </a:r>
            <a:r>
              <a:rPr b="0" sz="1500">
                <a:solidFill>
                  <a:srgbClr val="E2E8F0"/>
                </a:solidFill>
                <a:latin typeface="Segoe UI"/>
              </a:rPr>
              <a:t> (`mean_avg`)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  <a:latin typeface="Segoe UI"/>
              </a:rPr>
              <a:t>25% exceedance spread volatility</a:t>
            </a:r>
            <a:r>
              <a:rPr b="0" sz="1500">
                <a:solidFill>
                  <a:srgbClr val="E2E8F0"/>
                </a:solidFill>
                <a:latin typeface="Segoe UI"/>
              </a:rPr>
              <a:t> (`mean_spread`)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  <a:latin typeface="Segoe UI"/>
              </a:rPr>
              <a:t>20% anomalous readings frequency</a:t>
            </a:r>
            <a:r>
              <a:rPr b="0" sz="1500">
                <a:solidFill>
                  <a:srgbClr val="E2E8F0"/>
                </a:solidFill>
                <a:latin typeface="Segoe UI"/>
              </a:rPr>
              <a:t> (`anomaly_rate`)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  <a:latin typeface="Segoe UI"/>
              </a:rPr>
              <a:t>15% log-scaled update volume</a:t>
            </a:r>
            <a:r>
              <a:rPr b="0" sz="1500">
                <a:solidFill>
                  <a:srgbClr val="E2E8F0"/>
                </a:solidFill>
                <a:latin typeface="Segoe UI"/>
              </a:rPr>
              <a:t> (`persistence`)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  <a:latin typeface="Segoe UI"/>
              </a:rPr>
              <a:t>Severity Risk Bands:</a:t>
            </a:r>
            <a:r>
              <a:rPr b="0" sz="1500">
                <a:solidFill>
                  <a:srgbClr val="E2E8F0"/>
                </a:solidFill>
                <a:latin typeface="Segoe UI"/>
              </a:rPr>
              <a:t> Categories defined as Severe (&gt;=75), High (50-74), Moderate (25-49), and Low (&lt;25).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0B981"/>
                </a:solidFill>
                <a:latin typeface="Segoe UI"/>
              </a:rPr>
              <a:t>Rourkela (OSPCB)</a:t>
            </a:r>
            <a:r>
              <a:rPr b="0" sz="1500">
                <a:solidFill>
                  <a:srgbClr val="E2E8F0"/>
                </a:solidFill>
                <a:latin typeface="Segoe UI"/>
              </a:rPr>
              <a:t> identified as the most critical hotspot with a Severe SPIS score of 92.5.</a:t>
            </a:r>
          </a:p>
        </p:txBody>
      </p:sp>
      <p:pic>
        <p:nvPicPr>
          <p:cNvPr id="4" name="Picture 3" descr="spis_risk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Machine Learning &amp;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Random Forest Classifier:</a:t>
            </a:r>
            <a:r>
              <a:rPr b="0" sz="1600">
                <a:solidFill>
                  <a:srgbClr val="E2E8F0"/>
                </a:solidFill>
                <a:latin typeface="Segoe UI"/>
              </a:rPr>
              <a:t> Trained to evaluate if the SPIS scoring bands are auditable and learnable from component variables.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Outstanding Accuracy:</a:t>
            </a:r>
            <a:r>
              <a:rPr b="0" sz="1600">
                <a:solidFill>
                  <a:srgbClr val="E2E8F0"/>
                </a:solidFill>
                <a:latin typeface="Segoe UI"/>
              </a:rPr>
              <a:t> Achieved an overall validation accuracy of 97% on the test split.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High Classification Scores:</a:t>
            </a:r>
            <a:r>
              <a:rPr b="0" sz="1600">
                <a:solidFill>
                  <a:srgbClr val="E2E8F0"/>
                </a:solidFill>
                <a:latin typeface="Segoe UI"/>
              </a:rPr>
              <a:t> Precision and recall metrics reached 96-98% for Low and Moderate bands, and 100% for the Severe class.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Key Drivers:</a:t>
            </a:r>
            <a:r>
              <a:rPr b="0" sz="1600">
                <a:solidFill>
                  <a:srgbClr val="E2E8F0"/>
                </a:solidFill>
                <a:latin typeface="Segoe UI"/>
              </a:rPr>
              <a:t> Feature importances show that average level (42%) and volatility spread (39%) are the primary risk-band predictors.</a:t>
            </a:r>
          </a:p>
        </p:txBody>
      </p:sp>
      <p:pic>
        <p:nvPicPr>
          <p:cNvPr id="4" name="Picture 3" descr="risk_band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8463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Interactive Streamlit Sandbox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Live Telemetry Ingestion:</a:t>
            </a:r>
            <a:r>
              <a:rPr b="0" sz="1600">
                <a:solidFill>
                  <a:srgbClr val="E2E8F0"/>
                </a:solidFill>
                <a:latin typeface="Segoe UI"/>
              </a:rPr>
              <a:t> Fetches real-time air quality records via OpenAQ APIs for active stations.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Excel-style Grid Editor:</a:t>
            </a:r>
            <a:r>
              <a:rPr b="0" sz="1600">
                <a:solidFill>
                  <a:srgbClr val="E2E8F0"/>
                </a:solidFill>
                <a:latin typeface="Segoe UI"/>
              </a:rPr>
              <a:t> Users can edit specific coordinates, names, or pollutant values to simulate custom emissions scenarios.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Data Augmentation:</a:t>
            </a:r>
            <a:r>
              <a:rPr b="0" sz="1600">
                <a:solidFill>
                  <a:srgbClr val="E2E8F0"/>
                </a:solidFill>
                <a:latin typeface="Segoe UI"/>
              </a:rPr>
              <a:t> Injects user-specified synthetic rows to test pipeline robustness under noise.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On-the-fly ML Retraining:</a:t>
            </a:r>
            <a:r>
              <a:rPr b="0" sz="1600">
                <a:solidFill>
                  <a:srgbClr val="E2E8F0"/>
                </a:solidFill>
                <a:latin typeface="Segoe UI"/>
              </a:rPr>
              <a:t> Users can click to retrain the Random Forest model and instantly update accuracy tables and charts.</a:t>
            </a:r>
          </a:p>
        </p:txBody>
      </p:sp>
      <p:pic>
        <p:nvPicPr>
          <p:cNvPr id="4" name="Picture 3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Reproducible Engineering Pipeline:</a:t>
            </a:r>
            <a:r>
              <a:rPr b="0" sz="1600">
                <a:solidFill>
                  <a:srgbClr val="E2E8F0"/>
                </a:solidFill>
                <a:latin typeface="Segoe UI"/>
              </a:rPr>
              <a:t> Built a self-contained, auditable pipeline moving from sensor ingestion to spatial modeling.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Explainable Environmental Scores:</a:t>
            </a:r>
            <a:r>
              <a:rPr b="0" sz="1600">
                <a:solidFill>
                  <a:srgbClr val="E2E8F0"/>
                </a:solidFill>
                <a:latin typeface="Segoe UI"/>
              </a:rPr>
              <a:t> SPIS score introduces volatility and logging persistence, offering a fairer severity index.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Continuous Time-Series:</a:t>
            </a:r>
            <a:r>
              <a:rPr b="0" sz="1600">
                <a:solidFill>
                  <a:srgbClr val="E2E8F0"/>
                </a:solidFill>
                <a:latin typeface="Segoe UI"/>
              </a:rPr>
              <a:t> Future work targets incorporating LSTM neural networks for multi-day temporal forecasting.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0B981"/>
                </a:solidFill>
                <a:latin typeface="Segoe UI"/>
              </a:rPr>
              <a:t>Auto-calibration Checks:</a:t>
            </a:r>
            <a:r>
              <a:rPr b="0" sz="1600">
                <a:solidFill>
                  <a:srgbClr val="E2E8F0"/>
                </a:solidFill>
                <a:latin typeface="Segoe UI"/>
              </a:rPr>
              <a:t> Planned features include comparing neighborhood sensors to flag sensor drift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